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handoutMasterIdLst>
    <p:handoutMasterId r:id="rId13"/>
  </p:handoutMasterIdLst>
  <p:sldIdLst>
    <p:sldId id="257" r:id="rId2"/>
    <p:sldId id="291" r:id="rId3"/>
    <p:sldId id="293" r:id="rId4"/>
    <p:sldId id="297" r:id="rId5"/>
    <p:sldId id="290" r:id="rId6"/>
    <p:sldId id="292" r:id="rId7"/>
    <p:sldId id="294" r:id="rId8"/>
    <p:sldId id="295" r:id="rId9"/>
    <p:sldId id="296" r:id="rId10"/>
    <p:sldId id="289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арина Домницкая" initials="МД" lastIdx="1" clrIdx="0">
    <p:extLst>
      <p:ext uri="{19B8F6BF-5375-455C-9EA6-DF929625EA0E}">
        <p15:presenceInfo xmlns="" xmlns:p15="http://schemas.microsoft.com/office/powerpoint/2012/main" userId="4f11768ab82f666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E466A"/>
    <a:srgbClr val="0965A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43" autoAdjust="0"/>
    <p:restoredTop sz="94660"/>
  </p:normalViewPr>
  <p:slideViewPr>
    <p:cSldViewPr snapToObjects="1">
      <p:cViewPr varScale="1">
        <p:scale>
          <a:sx n="109" d="100"/>
          <a:sy n="109" d="100"/>
        </p:scale>
        <p:origin x="-16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122772488" cy="12277248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EC4E2-312E-40CA-BB73-669C39065786}" type="datetimeFigureOut">
              <a:rPr lang="ru-RU" smtClean="0"/>
              <a:pPr/>
              <a:t>13.06.2024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06B20-E780-4CC1-ADA5-D4276F431C2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668559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82F07-21A8-452B-830F-6F275006A33E}" type="datetimeFigureOut">
              <a:rPr lang="ru-RU" smtClean="0"/>
              <a:pPr/>
              <a:t>13.06.2024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92CC7F-4B8F-4971-B02C-4E99B9754D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839085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203653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23D1-D7DC-4591-8B16-454534D8710C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2DAA-37A7-4574-9524-5D7BADAEC38D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DC9B3-8FFD-42E5-B7EB-F0940352A9D4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A867B-E5FE-4FC4-865B-32A2D9C963E5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9ADF-A8B4-4D2F-917B-437CC9B9A1C8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6561-EB4D-4AD2-8019-9E2996AD71FD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F0B72-E5A1-44E1-A9DB-C9806E27F32C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9199-4694-42D0-8B18-C4941EBE0C8D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8FB2B-9458-442D-9586-942FF85D3874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D026C-C2E1-4D4B-B1B4-784E50A3B18B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F9B1-6C1D-4F32-95AA-811C294F742E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55F98-5148-4E11-98BB-6DE8AF8901CE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7809165" y="6356350"/>
            <a:ext cx="599476" cy="365125"/>
          </a:xfrm>
        </p:spPr>
        <p:txBody>
          <a:bodyPr/>
          <a:lstStyle/>
          <a:p>
            <a:pPr algn="ctr"/>
            <a:fld id="{17793251-9A28-40A8-A22D-0F67443F6B26}" type="slidenum">
              <a:rPr lang="ru-RU" smtClean="0">
                <a:solidFill>
                  <a:srgbClr val="0965AF"/>
                </a:solidFill>
                <a:latin typeface="Franklin Gothic Book" pitchFamily="34" charset="0"/>
              </a:rPr>
              <a:pPr algn="ctr"/>
              <a:t>1</a:t>
            </a:fld>
            <a:endParaRPr lang="ru-RU" dirty="0">
              <a:solidFill>
                <a:srgbClr val="0965AF"/>
              </a:solidFill>
              <a:latin typeface="Franklin Gothic Book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55F99FE-5571-A410-5B52-BE984F463CC6}"/>
              </a:ext>
            </a:extLst>
          </p:cNvPr>
          <p:cNvSpPr txBox="1"/>
          <p:nvPr/>
        </p:nvSpPr>
        <p:spPr>
          <a:xfrm>
            <a:off x="1574625" y="2197894"/>
            <a:ext cx="63544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«………………..»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-1" y="1515811"/>
            <a:ext cx="11302999" cy="49148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Дипломная работа </a:t>
            </a:r>
            <a:r>
              <a:rPr lang="ru-RU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на тему: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251618" y="5025245"/>
            <a:ext cx="589238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erdana"/>
                <a:cs typeface="Arial" panose="020B0604020202020204" pitchFamily="34" charset="0"/>
              </a:rPr>
              <a:t>Руководитель: к.э.н., доцент Саенко Мария Юрьевна</a:t>
            </a:r>
          </a:p>
          <a:p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Студент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Verdan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BB3F36F2-E78B-BFE5-3001-705BE6D8C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735545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6C000BA-8004-2A05-0D04-4111D255A568}"/>
              </a:ext>
            </a:extLst>
          </p:cNvPr>
          <p:cNvSpPr txBox="1"/>
          <p:nvPr/>
        </p:nvSpPr>
        <p:spPr>
          <a:xfrm>
            <a:off x="338668" y="1164448"/>
            <a:ext cx="7450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Актуальность исследования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C2512360-A516-7CE4-6BB3-452902A5657A}"/>
              </a:ext>
            </a:extLst>
          </p:cNvPr>
          <p:cNvSpPr/>
          <p:nvPr/>
        </p:nvSpPr>
        <p:spPr>
          <a:xfrm>
            <a:off x="0" y="1870365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Объект исследования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</a:p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Предмет исследования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ru-RU" sz="1800" dirty="0" err="1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Гемотест</a:t>
            </a:r>
            <a:r>
              <a:rPr lang="ru-RU" sz="18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».</a:t>
            </a:r>
          </a:p>
          <a:p>
            <a:endParaRPr lang="ru-RU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Цель работы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Задачи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27460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72A64DEE-D452-04DB-5B0A-CC03284F0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735545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C2512360-A516-7CE4-6BB3-452902A5657A}"/>
              </a:ext>
            </a:extLst>
          </p:cNvPr>
          <p:cNvSpPr/>
          <p:nvPr/>
        </p:nvSpPr>
        <p:spPr>
          <a:xfrm>
            <a:off x="314357" y="2438096"/>
            <a:ext cx="882964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Красочно: или картинка или рисунок –о своем предприятии</a:t>
            </a:r>
          </a:p>
          <a:p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Логотип компании</a:t>
            </a:r>
          </a:p>
          <a:p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Пример: картинка ниже</a:t>
            </a:r>
          </a:p>
          <a:p>
            <a:endParaRPr lang="ru-RU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12010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1023"/>
            <a:ext cx="8512993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D6CAD77-8AC8-25A8-8E89-76934BA82DCA}"/>
              </a:ext>
            </a:extLst>
          </p:cNvPr>
          <p:cNvSpPr txBox="1"/>
          <p:nvPr/>
        </p:nvSpPr>
        <p:spPr>
          <a:xfrm>
            <a:off x="27432" y="1512729"/>
            <a:ext cx="84353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i="0" dirty="0" smtClean="0">
                <a:solidFill>
                  <a:srgbClr val="21306A"/>
                </a:solidFill>
                <a:effectLst/>
                <a:latin typeface="Arial Black" panose="020B0A04020102020204" pitchFamily="34" charset="0"/>
                <a:ea typeface="Adobe Gothic Std B" panose="020B0800000000000000" pitchFamily="34" charset="-128"/>
              </a:rPr>
              <a:t>Лаборатория </a:t>
            </a:r>
            <a:r>
              <a:rPr lang="ru-RU" sz="2800" b="1" i="0" dirty="0">
                <a:solidFill>
                  <a:srgbClr val="21306A"/>
                </a:solidFill>
                <a:effectLst/>
                <a:latin typeface="Arial Black" panose="020B0A04020102020204" pitchFamily="34" charset="0"/>
                <a:ea typeface="Adobe Gothic Std B" panose="020B0800000000000000" pitchFamily="34" charset="-128"/>
              </a:rPr>
              <a:t>— ведущие мировые технологии в области лабораторной диагностики для пациентов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="" xmlns:a16="http://schemas.microsoft.com/office/drawing/2014/main" id="{FBB4E87E-517C-5060-BE3F-0CFB02A542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4385" y="641404"/>
            <a:ext cx="4489420" cy="1011131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651036" y="6413278"/>
            <a:ext cx="38204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C5C6CA"/>
                </a:solidFill>
                <a:latin typeface="Inter"/>
              </a:rPr>
              <a:t>На основании данных за 2023 год</a:t>
            </a:r>
            <a:endParaRPr lang="ru-RU" dirty="0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933030" y="2804787"/>
            <a:ext cx="1767115" cy="1341120"/>
          </a:xfrm>
          <a:prstGeom prst="roundRect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лидер </a:t>
            </a:r>
            <a:b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российского рынка лабораторной диагностики</a:t>
            </a:r>
            <a:endParaRPr lang="ru-RU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3516340" y="2804788"/>
            <a:ext cx="1763520" cy="1216660"/>
          </a:xfrm>
          <a:prstGeom prst="roundRect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лет </a:t>
            </a:r>
            <a:r>
              <a:rPr lang="ru-RU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рынке лабораторной </a:t>
            </a:r>
            <a:r>
              <a:rPr lang="ru-RU" sz="11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диагностики (2002-2022)</a:t>
            </a:r>
            <a:endParaRPr lang="ru-RU" sz="11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6001857" y="2804788"/>
            <a:ext cx="1747683" cy="1249053"/>
          </a:xfrm>
          <a:prstGeom prst="roundRect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2300+</a:t>
            </a:r>
          </a:p>
          <a:p>
            <a:pPr algn="ctr"/>
            <a:r>
              <a:rPr lang="ru-RU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городов</a:t>
            </a:r>
          </a:p>
          <a:p>
            <a:pPr algn="ctr"/>
            <a:r>
              <a:rPr lang="ru-RU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в 5 странах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933029" y="4608738"/>
            <a:ext cx="1764371" cy="1304332"/>
          </a:xfrm>
          <a:prstGeom prst="roundRect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8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каждый 12</a:t>
            </a:r>
            <a:r>
              <a:rPr lang="ru-RU" sz="11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-й</a:t>
            </a:r>
            <a:endParaRPr lang="ru-RU" sz="11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житель России – </a:t>
            </a:r>
            <a:br>
              <a:rPr lang="ru-RU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клиент «</a:t>
            </a:r>
            <a:r>
              <a:rPr lang="ru-RU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Гемотест</a:t>
            </a:r>
            <a:r>
              <a:rPr lang="ru-RU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6001857" y="4608738"/>
            <a:ext cx="1747683" cy="1304332"/>
          </a:xfrm>
          <a:prstGeom prst="roundRect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11 600 000 </a:t>
            </a:r>
            <a:r>
              <a:rPr lang="ru-RU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пациентов в год</a:t>
            </a:r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3516340" y="4608739"/>
            <a:ext cx="1763520" cy="1304333"/>
          </a:xfrm>
          <a:prstGeom prst="roundRect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2600+</a:t>
            </a:r>
            <a:r>
              <a:rPr lang="ru-RU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видов исследований</a:t>
            </a:r>
          </a:p>
        </p:txBody>
      </p:sp>
      <p:sp>
        <p:nvSpPr>
          <p:cNvPr id="23" name="5-конечная звезда 22"/>
          <p:cNvSpPr/>
          <p:nvPr/>
        </p:nvSpPr>
        <p:spPr>
          <a:xfrm>
            <a:off x="2183130" y="2967042"/>
            <a:ext cx="240030" cy="371118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FF00"/>
              </a:solidFill>
            </a:endParaRPr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695568" y="-3392"/>
            <a:ext cx="1448432" cy="106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393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D9173F77-7701-D98D-D8FD-9AAE7D514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855440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C2512360-A516-7CE4-6BB3-452902A5657A}"/>
              </a:ext>
            </a:extLst>
          </p:cNvPr>
          <p:cNvSpPr/>
          <p:nvPr/>
        </p:nvSpPr>
        <p:spPr>
          <a:xfrm>
            <a:off x="690033" y="2161097"/>
            <a:ext cx="84539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 показателей – 2 глава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1568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BFD90C53-553D-2FDD-2DC4-46925CCEF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735545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C2512360-A516-7CE4-6BB3-452902A5657A}"/>
              </a:ext>
            </a:extLst>
          </p:cNvPr>
          <p:cNvSpPr/>
          <p:nvPr/>
        </p:nvSpPr>
        <p:spPr>
          <a:xfrm>
            <a:off x="495570" y="2949420"/>
            <a:ext cx="84539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 показателей – 2 глава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30014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2386C558-F47A-3CEF-587B-E6E8D4185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50530" y="6374229"/>
            <a:ext cx="2133600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C2512360-A516-7CE4-6BB3-452902A5657A}"/>
              </a:ext>
            </a:extLst>
          </p:cNvPr>
          <p:cNvSpPr/>
          <p:nvPr/>
        </p:nvSpPr>
        <p:spPr>
          <a:xfrm>
            <a:off x="690033" y="2161097"/>
            <a:ext cx="84539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 показателей –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SWOT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PEST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если есть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33664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0304A3A0-542C-9ECD-784E-3B95B8F7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855440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C2512360-A516-7CE4-6BB3-452902A5657A}"/>
              </a:ext>
            </a:extLst>
          </p:cNvPr>
          <p:cNvSpPr/>
          <p:nvPr/>
        </p:nvSpPr>
        <p:spPr>
          <a:xfrm>
            <a:off x="690033" y="2161097"/>
            <a:ext cx="84539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Мероприятия , рекомендации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1855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DBF16A05-C7B1-4F9F-91C2-43215E03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855440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C2512360-A516-7CE4-6BB3-452902A5657A}"/>
              </a:ext>
            </a:extLst>
          </p:cNvPr>
          <p:cNvSpPr/>
          <p:nvPr/>
        </p:nvSpPr>
        <p:spPr>
          <a:xfrm>
            <a:off x="690033" y="2161097"/>
            <a:ext cx="84539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Экономическая эффективность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расчетах – как вывод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81948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696F2CB7-23FA-48E4-AD16-E5C88A937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09165" y="6356350"/>
            <a:ext cx="479580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03786CC-E2FA-4420-8680-C94F5ED15A45}"/>
              </a:ext>
            </a:extLst>
          </p:cNvPr>
          <p:cNvSpPr txBox="1"/>
          <p:nvPr/>
        </p:nvSpPr>
        <p:spPr>
          <a:xfrm>
            <a:off x="2788610" y="2896156"/>
            <a:ext cx="6354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0" i="0" dirty="0">
                <a:solidFill>
                  <a:srgbClr val="000000"/>
                </a:solidFill>
                <a:effectLst/>
                <a:latin typeface="-apple-system"/>
              </a:rPr>
              <a:t>Спасибо за внимание</a:t>
            </a:r>
            <a:endParaRPr lang="ru-RU" sz="3600" dirty="0"/>
          </a:p>
        </p:txBody>
      </p:sp>
    </p:spTree>
    <p:extLst>
      <p:ext uri="{BB962C8B-B14F-4D97-AF65-F5344CB8AC3E}">
        <p14:creationId xmlns="" xmlns:p14="http://schemas.microsoft.com/office/powerpoint/2010/main" val="2767889231"/>
      </p:ext>
    </p:extLst>
  </p:cSld>
  <p:clrMapOvr>
    <a:masterClrMapping/>
  </p:clrMapOvr>
</p:sld>
</file>

<file path=ppt/theme/theme1.xml><?xml version="1.0" encoding="utf-8"?>
<a:theme xmlns:a="http://schemas.openxmlformats.org/drawingml/2006/main" name="mfua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fua">
      <a:majorFont>
        <a:latin typeface="Franklin Gothic Medium Cond"/>
        <a:ea typeface=""/>
        <a:cs typeface=""/>
      </a:majorFont>
      <a:minorFont>
        <a:latin typeface="Franklin Gothic Book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2168</TotalTime>
  <Words>119</Words>
  <Application>Microsoft Office PowerPoint</Application>
  <PresentationFormat>Экран (4:3)</PresentationFormat>
  <Paragraphs>40</Paragraphs>
  <Slides>10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mfua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Mihaiylova.Y</dc:creator>
  <cp:lastModifiedBy>Windows User</cp:lastModifiedBy>
  <cp:revision>121</cp:revision>
  <dcterms:created xsi:type="dcterms:W3CDTF">2014-06-06T11:46:34Z</dcterms:created>
  <dcterms:modified xsi:type="dcterms:W3CDTF">2024-06-12T22:12:31Z</dcterms:modified>
</cp:coreProperties>
</file>