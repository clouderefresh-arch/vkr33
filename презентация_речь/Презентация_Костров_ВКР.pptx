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91" r:id="rId3"/>
    <p:sldId id="293" r:id="rId4"/>
    <p:sldId id="297" r:id="rId5"/>
    <p:sldId id="290" r:id="rId6"/>
    <p:sldId id="292" r:id="rId7"/>
    <p:sldId id="294" r:id="rId8"/>
    <p:sldId id="295" r:id="rId9"/>
    <p:sldId id="296" r:id="rId10"/>
    <p:sldId id="28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на Домницкая" initials="МД" lastIdx="1" clrIdx="0">
    <p:extLst>
      <p:ext uri="{19B8F6BF-5375-455C-9EA6-DF929625EA0E}">
        <p15:presenceInfo xmlns="" xmlns:p15="http://schemas.microsoft.com/office/powerpoint/2012/main" userId="4f11768ab82f66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E466A"/>
    <a:srgbClr val="0965A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43" autoAdjust="0"/>
    <p:restoredTop sz="94660"/>
  </p:normalViewPr>
  <p:slideViewPr>
    <p:cSldViewPr snapToObjects="1">
      <p:cViewPr varScale="1">
        <p:scale>
          <a:sx n="109" d="100"/>
          <a:sy n="109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22772488" cy="12277248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6855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839085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036537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809165" y="6356350"/>
            <a:ext cx="599476" cy="365125"/>
          </a:xfrm>
        </p:spPr>
        <p:txBody>
          <a:bodyPr/>
          <a:lstStyle/>
          <a:p>
            <a:pPr algn="ctr"/>
            <a:fld id="{17793251-9A28-40A8-A22D-0F67443F6B26}" type="slidenum">
              <a:rPr lang="ru-RU" smtClean="0">
                <a:solidFill>
                  <a:srgbClr val="0965AF"/>
                </a:solidFill>
                <a:latin typeface="Franklin Gothic Book" pitchFamily="34" charset="0"/>
              </a:rPr>
              <a:pPr algn="ctr"/>
              <a:t>1</a:t>
            </a:fld>
            <a:endParaRPr lang="ru-RU" dirty="0">
              <a:solidFill>
                <a:srgbClr val="0965AF"/>
              </a:solidFill>
              <a:latin typeface="Franklin Gothic Book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55F99FE-5571-A410-5B52-BE984F463CC6}"/>
              </a:ext>
            </a:extLst>
          </p:cNvPr>
          <p:cNvSpPr txBox="1"/>
          <p:nvPr/>
        </p:nvSpPr>
        <p:spPr>
          <a:xfrm>
            <a:off x="1574625" y="2197894"/>
            <a:ext cx="6354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«Применение интернет-технологий в коммерческой деятельности предприятий»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" y="1515811"/>
            <a:ext cx="11302999" cy="49148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Дипломная работа </a:t>
            </a:r>
            <a:r>
              <a:rPr lang="ru-RU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на тему: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51618" y="5025245"/>
            <a:ext cx="589238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/>
                <a:cs typeface="Arial" panose="020B0604020202020204" pitchFamily="34" charset="0"/>
              </a:rPr>
              <a:t>Руководитель: к.э.н., доцент Саенко Мария Юрьевна</a:t>
            </a:r>
          </a:p>
          <a:p>
            <a:r>
              <a:rPr lang="ru-RU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Студент: Костров</a:t>
            </a:r>
            <a:br>
              <a:rPr lang="ru-RU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B3F36F2-E78B-BFE5-3001-705BE6D8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6C000BA-8004-2A05-0D04-4111D255A568}"/>
              </a:ext>
            </a:extLst>
          </p:cNvPr>
          <p:cNvSpPr txBox="1"/>
          <p:nvPr/>
        </p:nvSpPr>
        <p:spPr>
          <a:xfrm>
            <a:off x="338668" y="1164448"/>
            <a:ext cx="7450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Актуальность, объект, предмет, цель и задачи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11480" y="1325880"/>
            <a:ext cx="8412480" cy="5212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Актуальность: рынок интернет-торговли РФ в 2024 г. достиг ≈ 9,1 трлн руб. (+35 % к 2023 г.), доля онлайн в рознице — 15–16 %. Рост цифровых каналов усиливает угрозы экономической безопасности коммерческих предприятий.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Объект — коммерческие организации ЮЗАО г. Москвы, ведущие торгово-сбытовую деятельность с использованием интернет-технологий (модельная группа П-1 — П-5).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Предмет — перспективы применения интернет-технологий и отношения предприятий с подразделением экономической безопасности по устойчивости цифровых каналов продаж.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2060"/>
                </a:solidFill>
                <a:latin typeface="Arial"/>
              </a:rPr>
              <a:t>Цель — разработать комплекс концептуальных предложений по повышению эффективности коммерческой деятельности за счёт усиления экономической безопасности при поддержке ОЭБиПК УВД по ЮЗАО.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Arial"/>
              </a:rPr>
              <a:t>Задачи: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раскрыть понятийно-сущностные основы интернет-технологий в коммерции;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систематизировать зарубежный и отечественный опыт цифровых экосистем;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определить роль экономической безопасности как фактора эффективности;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дать организационно-правовую характеристику ОЭБиПК УВД по ЮЗАО;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проанализировать модельную группу предприятий и их цифровые каналы;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выявить уязвимости и угрозы экономической безопасности;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разработать программу мер (профилактика, аналитика, мониторинг, обмен данными);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оценить экономическую эффективность и определить перспективы развития.</a:t>
            </a:r>
          </a:p>
        </p:txBody>
      </p:sp>
    </p:spTree>
    <p:extLst>
      <p:ext uri="{BB962C8B-B14F-4D97-AF65-F5344CB8AC3E}">
        <p14:creationId xmlns="" xmlns:p14="http://schemas.microsoft.com/office/powerpoint/2010/main" val="312746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72A64DEE-D452-04DB-5B0A-CC03284F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2060"/>
                </a:solidFill>
                <a:latin typeface="Century Gothic"/>
              </a:rPr>
              <a:t>База исследования: ОЭБиПК УВД по ЮЗАО и модельная группа предприятий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ОЭБиПК УВД по ЮЗАО ГУ МВД России по г. Москве — подразделение экономической безопасности и противодействия коррупции. Не является коммерческой организацией, но играет ключевую инфраструктурную роль для устойчивости бизнеса округа; его функция смещается от реагирования к профилактике и цифровому мониторингу.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Модельная группа — 5 предприятий-аналогов ЮЗАО (обезличены, ст. 161 УПК РФ, ФЗ № 152-ФЗ):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П-1 — инжиниринг и торговля оборудованием (выручка 146,4 млн руб., онлайн 31,5 %);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П-2 — частный медицинский центр (37,2 млн руб., онлайн 22,8 %);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П-3 — оптово-розничная торговля стройматериалами (284,1 млн руб., онлайн 18,4 %);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П-4 — фермерский маркетплейс (62,8 млн руб., онлайн 44,7 %);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П-5 — стоматологическая сеть (98,7 млн руб., онлайн 19,6 %).</a:t>
            </a:r>
          </a:p>
        </p:txBody>
      </p:sp>
    </p:spTree>
    <p:extLst>
      <p:ext uri="{BB962C8B-B14F-4D97-AF65-F5344CB8AC3E}">
        <p14:creationId xmlns="" xmlns:p14="http://schemas.microsoft.com/office/powerpoint/2010/main" val="301201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D6CAD77-8AC8-25A8-8E89-76934BA82DCA}"/>
              </a:ext>
            </a:extLst>
          </p:cNvPr>
          <p:cNvSpPr txBox="1"/>
          <p:nvPr/>
        </p:nvSpPr>
        <p:spPr>
          <a:xfrm>
            <a:off x="27432" y="1280160"/>
            <a:ext cx="84353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2060"/>
                </a:solidFill>
                <a:latin typeface="Arial Black"/>
              </a:rPr>
              <a:t>Цифровая среда коммерческой деятельности и модельная группа — в цифрах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51036" y="6413278"/>
            <a:ext cx="3820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08080"/>
                </a:solidFill>
                <a:latin typeface="Arial"/>
              </a:rPr>
              <a:t>По данным АКИТ, «Дата Инсайт», Росстата и расчётам автора (2024 г.)</a:t>
            </a:r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933030" y="2804787"/>
            <a:ext cx="1767115" cy="134112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b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800" b="1">
                <a:solidFill>
                  <a:srgbClr val="FFFFFF"/>
                </a:solidFill>
                <a:latin typeface="Arial"/>
              </a:rPr>
              <a:t>≈ 9,1 трлн ₽</a:t>
            </a:r>
            <a:endParaRPr lang="ru-RU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объём рынка интернет-торговли России, 2024</a:t>
            </a: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3516340" y="2804788"/>
            <a:ext cx="1763520" cy="121666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b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800" b="1">
                <a:solidFill>
                  <a:srgbClr val="FFFFFF"/>
                </a:solidFill>
                <a:latin typeface="Arial"/>
              </a:rPr>
              <a:t>+35 %</a:t>
            </a:r>
            <a:endParaRPr lang="ru-RU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годовой рост рынка к 2023 году</a:t>
            </a: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6001857" y="2804788"/>
            <a:ext cx="1747683" cy="1249053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15–16 %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доля онлайн-канала в обороте розницы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933029" y="4608738"/>
            <a:ext cx="1764371" cy="1304332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  <a:endParaRPr lang="ru-RU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предприятий модельной группы (П-1 — П-5)</a:t>
            </a: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6001857" y="4608738"/>
            <a:ext cx="1747683" cy="1304332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KEO ≈ 9,5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отдача на рубль затрат (базовый сценарий)</a:t>
            </a: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3516340" y="4608739"/>
            <a:ext cx="1763520" cy="1304333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br>
              <a:rPr lang="ru-RU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800" b="1">
                <a:solidFill>
                  <a:srgbClr val="FFFFFF"/>
                </a:solidFill>
                <a:latin typeface="Arial"/>
              </a:rPr>
              <a:t>0,43–0,86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диапазон индекса цифрового доверия (ИЦД)</a:t>
            </a:r>
          </a:p>
        </p:txBody>
      </p:sp>
      <p:sp>
        <p:nvSpPr>
          <p:cNvPr id="23" name="5-конечная звезда 22"/>
          <p:cNvSpPr/>
          <p:nvPr/>
        </p:nvSpPr>
        <p:spPr>
          <a:xfrm>
            <a:off x="2183130" y="2967042"/>
            <a:ext cx="240030" cy="371118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93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9173F77-7701-D98D-D8FD-9AAE7D51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2060"/>
                </a:solidFill>
                <a:latin typeface="Century Gothic"/>
              </a:rPr>
              <a:t>Анализ цифровых каналов модельной группы (глава 2)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07008"/>
                <a:gridCol w="1207008"/>
                <a:gridCol w="1207008"/>
                <a:gridCol w="1207008"/>
                <a:gridCol w="1207008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П-1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П-2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П-3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П-4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П-5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Профиль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Инжиниринг/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оборуд.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Медцентр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Строймат.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Фермер.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маркетпл.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Стомат.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сеть</a:t>
                      </a:r>
                    </a:p>
                  </a:txBody>
                  <a:tcPr anchor="ctr" marT="25400" marB="25400" marL="50800" marR="50800"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Выручка 2024, млн ₽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146,4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37,2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284,1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62,8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98,7</a:t>
                      </a:r>
                    </a:p>
                  </a:txBody>
                  <a:tcPr anchor="ctr" marT="25400" marB="25400" marL="50800" marR="50800"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Доля онлайн, %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31,5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22,8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18,4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44,7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19,6</a:t>
                      </a:r>
                    </a:p>
                  </a:txBody>
                  <a:tcPr anchor="ctr" marT="25400" marB="25400" marL="50800" marR="50800"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Заказов онлайн/мес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1 240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2 870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1 880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9 350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4 110</a:t>
                      </a:r>
                    </a:p>
                  </a:txBody>
                  <a:tcPr anchor="ctr" marT="25400" marB="25400" marL="50800" marR="50800"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Средний чек, ₽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31 600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3 950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12 470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1 750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5 320</a:t>
                      </a:r>
                    </a:p>
                  </a:txBody>
                  <a:tcPr anchor="ctr" marT="25400" marB="25400" marL="50800" marR="50800"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Коэф. цифр. интенс. Kди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0,132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0,146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0,057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0,367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0,108</a:t>
                      </a:r>
                    </a:p>
                  </a:txBody>
                  <a:tcPr anchor="ctr" marT="25400" marB="25400" marL="50800" marR="508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Все предприятия используют национальную инфраструктуру доверия (СБП, эквайринг, маркировка «Честный знак»), но различаются по цифровой интенсивности и устойчивости.</a:t>
            </a:r>
          </a:p>
        </p:txBody>
      </p:sp>
    </p:spTree>
    <p:extLst>
      <p:ext uri="{BB962C8B-B14F-4D97-AF65-F5344CB8AC3E}">
        <p14:creationId xmlns="" xmlns:p14="http://schemas.microsoft.com/office/powerpoint/2010/main" val="30156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BFD90C53-553D-2FDD-2DC4-46925CCE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735545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2060"/>
                </a:solidFill>
                <a:latin typeface="Century Gothic"/>
              </a:rPr>
              <a:t>Защищённость каналов и индекс цифрового доверия (ИЦД)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Предприятие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П-1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П-2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П-3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П-4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П-5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Средний уровень мер защиты, %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78,6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71,4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85,7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anchor="ctr" marT="25400" marB="25400" marL="50800" marR="50800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Индекс цифрового доверия (ИЦД)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0,71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0,43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0,64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0,86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0,50</a:t>
                      </a:r>
                    </a:p>
                  </a:txBody>
                  <a:tcPr anchor="ctr" marT="25400" marB="25400" marL="50800" marR="50800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Зона устойчивости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Приемл.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Ниже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сред.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Приемл.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Высокий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Ниже</a:t>
                      </a:r>
                    </a:p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сред.</a:t>
                      </a:r>
                    </a:p>
                  </a:txBody>
                  <a:tcPr anchor="ctr" marT="25400" marB="25400" marL="50800" marR="5080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23360"/>
            <a:ext cx="8229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Авторский индекс цифрового доверия (ИЦД) рассчитан по 7 индикаторам защиты (шкала 0–1).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ИЦД положительно коррелирует с долей выручки от онлайн-канала;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самая распространённая проблема — отсутствие обучения персонала кибергигиене (в среднем 20 %);</a:t>
            </a:r>
          </a:p>
          <a:p>
            <a:pPr lvl="1"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наиболее уязвимы П-2 и П-5 (медицинский и стоматологический профиль).</a:t>
            </a:r>
          </a:p>
        </p:txBody>
      </p:sp>
    </p:spTree>
    <p:extLst>
      <p:ext uri="{BB962C8B-B14F-4D97-AF65-F5344CB8AC3E}">
        <p14:creationId xmlns="" xmlns:p14="http://schemas.microsoft.com/office/powerpoint/2010/main" val="113001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386C558-F47A-3CEF-587B-E6E8D418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50530" y="6374229"/>
            <a:ext cx="213360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2060"/>
                </a:solidFill>
                <a:latin typeface="Century Gothic"/>
              </a:rPr>
              <a:t>Ключевые уязвимости и угрозы экономической безопасности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  <a:latin typeface="Arial"/>
              </a:rPr>
              <a:t>Систематизированы характерные для предприятий ЮЗАО уязвимости: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• отсутствие или фрагментарность программ обучения персонала кибергигиене;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• неполная защита платёжных операций антифрод-модулями;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• пропуски в работе с цифровой маркировкой «Честный знак»;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• высокая восприимчивость медицинского и стоматологического профиля к фишингу;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• рост доли оспоренных платежей (chargeback) и возвратов;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• появление фишинговых копий сайтов и приложений предприятий;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• медленная реакция службы поддержки на обращения и инциденты.</a:t>
            </a:r>
          </a:p>
        </p:txBody>
      </p:sp>
    </p:spTree>
    <p:extLst>
      <p:ext uri="{BB962C8B-B14F-4D97-AF65-F5344CB8AC3E}">
        <p14:creationId xmlns="" xmlns:p14="http://schemas.microsoft.com/office/powerpoint/2010/main" val="113366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0304A3A0-542C-9ECD-784E-3B95B8F7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2060"/>
                </a:solidFill>
                <a:latin typeface="Century Gothic"/>
              </a:rPr>
              <a:t>Концептуальные предложения: программа из 4 звеньев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283464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Звено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Инструменты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Эффект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1. Профилактика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Семинары, курс «Кибергигиена для МСП», чек-листы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Снижение числа инцидентов до их наступления</a:t>
                      </a:r>
                    </a:p>
                  </a:txBody>
                  <a:tcPr anchor="ctr" marT="25400" marB="25400" marL="50800" marR="50800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2. Аналитика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Обезличенные ежеквартальные обзоры типовых схем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Обновление внутренних регламентов предприятий</a:t>
                      </a:r>
                    </a:p>
                  </a:txBody>
                  <a:tcPr anchor="ctr" marT="25400" marB="25400" marL="50800" marR="50800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3. Цифровой мониторинг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АИС/ЕИС МВД, СПАРК, Контур.Фокус, ФинЦЕРТ; 5 индикаторов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Раннее выявление подозрительных операций</a:t>
                      </a:r>
                    </a:p>
                  </a:txBody>
                  <a:tcPr anchor="ctr" marT="25400" marB="25400" marL="50800" marR="50800"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4. Межведомственный обмен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Рабочая группа бизнес—ЭБиПК—ФНС—Банк России; ГосТех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Целостная картина рисков, синхронизация мер</a:t>
                      </a:r>
                    </a:p>
                  </a:txBody>
                  <a:tcPr anchor="ctr" marT="25400" marB="25400" marL="50800" marR="508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7 конкретных мероприятий; программа укладывается в действующие полномочия ОЭБиПК (ФЗ № 3-ФЗ «О полиции», ФЗ № 273-ФЗ) без расширения функций. Реализация — в 3 фазы.</a:t>
            </a:r>
          </a:p>
        </p:txBody>
      </p:sp>
    </p:spTree>
    <p:extLst>
      <p:ext uri="{BB962C8B-B14F-4D97-AF65-F5344CB8AC3E}">
        <p14:creationId xmlns="" xmlns:p14="http://schemas.microsoft.com/office/powerpoint/2010/main" val="14218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BF16A05-C7B1-4F9F-91C2-43215E03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85544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C2512360-A516-7CE4-6BB3-452902A5657A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2060"/>
                </a:solidFill>
                <a:latin typeface="Century Gothic"/>
              </a:rPr>
              <a:t>Экономическая эффективность предложений (вывод)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554480"/>
                <a:gridCol w="15544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Показатель (среднее по группе)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2024 (факт)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2026 (прогноз)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anchor="ctr" marT="25400" marB="25400" marL="50800" marR="50800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Выручка от онлайн-канала, млн ₽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48,3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63,7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+31,9 %</a:t>
                      </a:r>
                    </a:p>
                  </a:txBody>
                  <a:tcPr anchor="ctr" marT="25400" marB="25400" marL="50800" marR="5080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Конверсия сайта в покупку, %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+1,2 п.п.</a:t>
                      </a:r>
                    </a:p>
                  </a:txBody>
                  <a:tcPr anchor="ctr" marT="25400" marB="25400" marL="50800" marR="5080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Потери от фрода и фишинга, млн ₽/год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1,42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0,28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−80,3 %</a:t>
                      </a:r>
                    </a:p>
                  </a:txBody>
                  <a:tcPr anchor="ctr" marT="25400" marB="25400" marL="50800" marR="5080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Индекс лояльности клиентов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+23 п.</a:t>
                      </a:r>
                    </a:p>
                  </a:txBody>
                  <a:tcPr anchor="ctr" marT="25400" marB="25400" marL="50800" marR="5080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Чистая прибыль, млн ₽/год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anchor="ctr" marT="25400" marB="25400" marL="50800" marR="508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+89,4 %</a:t>
                      </a:r>
                    </a:p>
                  </a:txBody>
                  <a:tcPr anchor="ctr" marT="25400" marB="25400" marL="50800" marR="508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6052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Интегральная оценка эффективности: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Коэффициент экономической отдачи KEO = (4 200 − 400) / 400 = 9,5 (≈ 10 ₽ эффекта на 1 ₽ затрат);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NPV ≈ 9 250 тыс. ₽ при инвестициях ≈ 150 тыс. ₽/предприятие; срок окупаемости — 5,3 мес.;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• дополнительный налоговый эффект по группе — 4,9–5,4 млн ₽/год.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1F6E43"/>
                </a:solidFill>
                <a:latin typeface="Arial"/>
              </a:rPr>
              <a:t>Цель работы достигнута, гипотеза подтверждена.</a:t>
            </a:r>
          </a:p>
        </p:txBody>
      </p:sp>
    </p:spTree>
    <p:extLst>
      <p:ext uri="{BB962C8B-B14F-4D97-AF65-F5344CB8AC3E}">
        <p14:creationId xmlns="" xmlns:p14="http://schemas.microsoft.com/office/powerpoint/2010/main" val="188194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696F2CB7-23FA-48E4-AD16-E5C88A93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165" y="6356350"/>
            <a:ext cx="479580" cy="365125"/>
          </a:xfrm>
        </p:spPr>
        <p:txBody>
          <a:bodyPr/>
          <a:lstStyle/>
          <a:p>
            <a:fld id="{17793251-9A28-40A8-A22D-0F67443F6B26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03786CC-E2FA-4420-8680-C94F5ED15A45}"/>
              </a:ext>
            </a:extLst>
          </p:cNvPr>
          <p:cNvSpPr txBox="1"/>
          <p:nvPr/>
        </p:nvSpPr>
        <p:spPr>
          <a:xfrm>
            <a:off x="2788610" y="2896156"/>
            <a:ext cx="6354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-apple-system"/>
              </a:rPr>
              <a:t>Спасибо за внимание</a:t>
            </a:r>
            <a:endParaRPr lang="ru-RU" sz="3600" dirty="0"/>
          </a:p>
        </p:txBody>
      </p:sp>
    </p:spTree>
    <p:extLst>
      <p:ext uri="{BB962C8B-B14F-4D97-AF65-F5344CB8AC3E}">
        <p14:creationId xmlns="" xmlns:p14="http://schemas.microsoft.com/office/powerpoint/2010/main" val="2767889231"/>
      </p:ext>
    </p:extLst>
  </p:cSld>
  <p:clrMapOvr>
    <a:masterClrMapping/>
  </p:clrMapOvr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</TotalTime>
  <Words>119</Words>
  <Application>Microsoft Office PowerPoint</Application>
  <PresentationFormat>Экран (4:3)</PresentationFormat>
  <Paragraphs>40</Paragraphs>
  <Slides>10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mfua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Windows User</cp:lastModifiedBy>
  <cp:revision>121</cp:revision>
  <dcterms:created xsi:type="dcterms:W3CDTF">2014-06-06T11:46:34Z</dcterms:created>
  <dcterms:modified xsi:type="dcterms:W3CDTF">2024-06-12T22:12:31Z</dcterms:modified>
</cp:coreProperties>
</file>