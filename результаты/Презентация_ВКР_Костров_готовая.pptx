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handoutMasterIdLst>
    <p:handoutMasterId r:id="rId13"/>
  </p:handoutMasterIdLst>
  <p:sldIdLst>
    <p:sldId id="257" r:id="rId2"/>
    <p:sldId id="291" r:id="rId3"/>
    <p:sldId id="293" r:id="rId4"/>
    <p:sldId id="297" r:id="rId5"/>
    <p:sldId id="290" r:id="rId6"/>
    <p:sldId id="292" r:id="rId7"/>
    <p:sldId id="294" r:id="rId8"/>
    <p:sldId id="295" r:id="rId9"/>
    <p:sldId id="296" r:id="rId10"/>
    <p:sldId id="289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на Домницкая" initials="МД" lastIdx="1" clrIdx="0">
    <p:extLst>
      <p:ext uri="{19B8F6BF-5375-455C-9EA6-DF929625EA0E}">
        <p15:presenceInfo xmlns="" xmlns:p15="http://schemas.microsoft.com/office/powerpoint/2012/main" userId="4f11768ab82f66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E466A"/>
    <a:srgbClr val="0965A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43" autoAdjust="0"/>
    <p:restoredTop sz="94660"/>
  </p:normalViewPr>
  <p:slideViewPr>
    <p:cSldViewPr snapToObjects="1">
      <p:cViewPr varScale="1">
        <p:scale>
          <a:sx n="109" d="100"/>
          <a:sy n="109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122772488" cy="12277248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онлайн-канала в выручке, %</c:v>
                </c:pt>
              </c:strCache>
            </c:strRef>
          </c:tx>
          <c:spPr>
            <a:solidFill>
              <a:srgbClr val="173F7E"/>
            </a:solidFill>
          </c:spPr>
          <c:cat>
            <c:strRef>
              <c:f>Sheet1!$A$2:$A$6</c:f>
              <c:strCache>
                <c:ptCount val="5"/>
                <c:pt idx="0">
                  <c:v>П-1</c:v>
                </c:pt>
                <c:pt idx="1">
                  <c:v>П-2</c:v>
                </c:pt>
                <c:pt idx="2">
                  <c:v>П-3</c:v>
                </c:pt>
                <c:pt idx="3">
                  <c:v>П-4</c:v>
                </c:pt>
                <c:pt idx="4">
                  <c:v>П-5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31.5</c:v>
                </c:pt>
                <c:pt idx="1">
                  <c:v>22.8</c:v>
                </c:pt>
                <c:pt idx="2">
                  <c:v>18.4</c:v>
                </c:pt>
                <c:pt idx="3">
                  <c:v>44.7</c:v>
                </c:pt>
                <c:pt idx="4">
                  <c:v>19.6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Коэффициент цифровой интенсивности Kди</c:v>
                </c:pt>
              </c:strCache>
            </c:strRef>
          </c:tx>
          <c:spPr>
            <a:solidFill>
              <a:srgbClr val="173F7E"/>
            </a:solidFill>
          </c:spPr>
          <c:cat>
            <c:strRef>
              <c:f>Sheet1!$A$2:$A$6</c:f>
              <c:strCache>
                <c:ptCount val="5"/>
                <c:pt idx="0">
                  <c:v>П-1</c:v>
                </c:pt>
                <c:pt idx="1">
                  <c:v>П-2</c:v>
                </c:pt>
                <c:pt idx="2">
                  <c:v>П-3</c:v>
                </c:pt>
                <c:pt idx="3">
                  <c:v>П-4</c:v>
                </c:pt>
                <c:pt idx="4">
                  <c:v>П-5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0.132</c:v>
                </c:pt>
                <c:pt idx="1">
                  <c:v>0.146</c:v>
                </c:pt>
                <c:pt idx="2">
                  <c:v>0.057</c:v>
                </c:pt>
                <c:pt idx="3">
                  <c:v>0.367</c:v>
                </c:pt>
                <c:pt idx="4">
                  <c:v>0.108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EC4E2-312E-40CA-BB73-669C39065786}" type="datetimeFigureOut">
              <a:rPr lang="ru-RU" smtClean="0"/>
              <a:pPr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6B20-E780-4CC1-ADA5-D4276F431C2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6855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82F07-21A8-452B-830F-6F275006A33E}" type="datetimeFigureOut">
              <a:rPr lang="ru-RU" smtClean="0"/>
              <a:pPr/>
              <a:t>13.06.2024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2CC7F-4B8F-4971-B02C-4E99B9754D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839085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2036537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23D1-D7DC-4591-8B16-454534D8710C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2DAA-37A7-4574-9524-5D7BADAEC38D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C9B3-8FFD-42E5-B7EB-F0940352A9D4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A867B-E5FE-4FC4-865B-32A2D9C963E5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9ADF-A8B4-4D2F-917B-437CC9B9A1C8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6561-EB4D-4AD2-8019-9E2996AD71FD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F0B72-E5A1-44E1-A9DB-C9806E27F32C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199-4694-42D0-8B18-C4941EBE0C8D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8FB2B-9458-442D-9586-942FF85D3874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026C-C2E1-4D4B-B1B4-784E50A3B18B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F9B1-6C1D-4F32-95AA-811C294F742E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55F98-5148-4E11-98BB-6DE8AF8901CE}" type="datetime1">
              <a:rPr lang="ru-RU" smtClean="0"/>
              <a:pPr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  <a:latin typeface="Times New Roman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73F7E"/>
                </a:solidFill>
                <a:latin typeface="Times New Roman"/>
              </a:rPr>
              <a:t>Дипломная работа на тему: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73F7E"/>
                </a:solidFill>
                <a:latin typeface="Times New Roman"/>
              </a:rPr>
              <a:t>«Перспективы применения интернет-технологий в коммерческой деятельности предприятий ЮЗАО г. Москвы»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9572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2A2A2A"/>
                </a:solidFill>
                <a:latin typeface="Times New Roman"/>
              </a:rPr>
              <a:t>и оценка эффективности предлагаемых концептуальных предложений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A2A2A"/>
                </a:solidFill>
                <a:latin typeface="Times New Roman"/>
              </a:rPr>
              <a:t>Студент: Костров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A2A2A"/>
                </a:solidFill>
                <a:latin typeface="Times New Roman"/>
              </a:rPr>
              <a:t>Руководитель: к.э.н., доцент Саенко Мария Юрьевна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  <a:latin typeface="Times New Roman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3F7E"/>
                </a:solidFill>
                <a:latin typeface="Times New Roman"/>
              </a:rPr>
              <a:t>Актуальность, объект, предмет и цель исследования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8368"/>
            <a:ext cx="10058400" cy="27432"/>
          </a:xfrm>
          <a:prstGeom prst="rect">
            <a:avLst/>
          </a:prstGeom>
          <a:solidFill>
            <a:srgbClr val="173F7E"/>
          </a:solidFill>
          <a:ln>
            <a:solidFill>
              <a:srgbClr val="173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A2A2A"/>
                </a:solidFill>
                <a:latin typeface="Times New Roman"/>
              </a:defRPr>
            </a:pPr>
            <a:r>
              <a:t>Актуальность: коммерческие предприятия переходят в цифровые каналы, где вместе с ростом продаж увеличиваются риски фрода, фишинга, утечек и недостоверных контрагентов.</a:t>
            </a:r>
          </a:p>
          <a:p>
            <a:pPr>
              <a:defRPr sz="1800">
                <a:solidFill>
                  <a:srgbClr val="2A2A2A"/>
                </a:solidFill>
                <a:latin typeface="Times New Roman"/>
              </a:defRPr>
            </a:pPr>
            <a:r>
              <a:t>Объект: коммерческие организации ЮЗАО г. Москвы, использующие интернет-технологии в торгово-сбытовой деятельности.</a:t>
            </a:r>
          </a:p>
          <a:p>
            <a:pPr>
              <a:defRPr sz="1800">
                <a:solidFill>
                  <a:srgbClr val="2A2A2A"/>
                </a:solidFill>
                <a:latin typeface="Times New Roman"/>
              </a:defRPr>
            </a:pPr>
            <a:r>
              <a:t>Предмет: перспективы применения интернет-технологий и экономико-управленческие отношения, возникающие при обеспечении экономической безопасности.</a:t>
            </a:r>
          </a:p>
          <a:p>
            <a:pPr>
              <a:defRPr sz="1800">
                <a:solidFill>
                  <a:srgbClr val="2A2A2A"/>
                </a:solidFill>
                <a:latin typeface="Times New Roman"/>
              </a:defRPr>
            </a:pPr>
            <a:r>
              <a:t>Цель: разработать комплекс концептуальных предложений по повышению эффективности коммерческой деятельности за счёт цифровых инструментов и мер ОЭБиПК.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73F7E"/>
                </a:solidFill>
                <a:latin typeface="Times New Roman"/>
              </a:rPr>
              <a:t>Задачи исследования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784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2A2A"/>
                </a:solidFill>
                <a:latin typeface="Times New Roman"/>
              </a:defRPr>
            </a:pPr>
            <a:r>
              <a:t>раскрыть понятие интернет-технологий в коммерции;</a:t>
            </a:r>
          </a:p>
          <a:p>
            <a:pPr>
              <a:defRPr sz="1500">
                <a:solidFill>
                  <a:srgbClr val="2A2A2A"/>
                </a:solidFill>
                <a:latin typeface="Times New Roman"/>
              </a:defRPr>
            </a:pPr>
            <a:r>
              <a:t>изучить отечественный и зарубежный опыт цифровых экосистем;</a:t>
            </a:r>
          </a:p>
          <a:p>
            <a:pPr>
              <a:defRPr sz="1500">
                <a:solidFill>
                  <a:srgbClr val="2A2A2A"/>
                </a:solidFill>
                <a:latin typeface="Times New Roman"/>
              </a:defRPr>
            </a:pPr>
            <a:r>
              <a:t>проанализировать предприятия П-1–П-5 и их цифровые каналы;</a:t>
            </a:r>
          </a:p>
          <a:p>
            <a:pPr>
              <a:defRPr sz="1500">
                <a:solidFill>
                  <a:srgbClr val="2A2A2A"/>
                </a:solidFill>
                <a:latin typeface="Times New Roman"/>
              </a:defRPr>
            </a:pPr>
            <a:r>
              <a:t>оценить риски экономической безопасности и рассчитать ИЦД;</a:t>
            </a:r>
          </a:p>
          <a:p>
            <a:pPr>
              <a:defRPr sz="1500">
                <a:solidFill>
                  <a:srgbClr val="2A2A2A"/>
                </a:solidFill>
                <a:latin typeface="Times New Roman"/>
              </a:defRPr>
            </a:pPr>
            <a:r>
              <a:t>предложить мероприятия и рассчитать экономическую эффективность.</a:t>
            </a:r>
          </a:p>
        </p:txBody>
      </p:sp>
    </p:spTree>
    <p:extLst>
      <p:ext uri="{BB962C8B-B14F-4D97-AF65-F5344CB8AC3E}">
        <p14:creationId xmlns="" xmlns:p14="http://schemas.microsoft.com/office/powerpoint/2010/main" val="3127460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  <a:latin typeface="Times New Roman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3F7E"/>
                </a:solidFill>
                <a:latin typeface="Times New Roman"/>
              </a:rPr>
              <a:t>Логика исследования и информационная база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8368"/>
            <a:ext cx="10058400" cy="27432"/>
          </a:xfrm>
          <a:prstGeom prst="rect">
            <a:avLst/>
          </a:prstGeom>
          <a:solidFill>
            <a:srgbClr val="173F7E"/>
          </a:solidFill>
          <a:ln>
            <a:solidFill>
              <a:srgbClr val="173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005840"/>
          <a:ext cx="10241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Блок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Содержание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Результат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Глава 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Теория интернет-технологий, цифровые экосистемы, экономическая безопасность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Методическая рамка и показатели оценки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Глава 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ОЭБиПК УВД по ЮЗАО и модельная группа предприятий П-1–П-5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Диагностика цифровых каналов и рисков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Глава 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Профилактика, аналитика, мониторинг, межведомственный обмен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Комплекс мер и расчёт эффективности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73F7E"/>
                </a:solidFill>
                <a:latin typeface="Times New Roman"/>
              </a:rPr>
              <a:t>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1188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A2A2A"/>
                </a:solidFill>
                <a:latin typeface="Times New Roman"/>
              </a:defRPr>
            </a:pPr>
            <a:r>
              <a:t>анализ, синтез, сравнение и обобщение;</a:t>
            </a:r>
          </a:p>
          <a:p>
            <a:pPr>
              <a:defRPr sz="1600">
                <a:solidFill>
                  <a:srgbClr val="2A2A2A"/>
                </a:solidFill>
                <a:latin typeface="Times New Roman"/>
              </a:defRPr>
            </a:pPr>
            <a:r>
              <a:t>структурно-функциональный и статистический анализ;</a:t>
            </a:r>
          </a:p>
          <a:p>
            <a:pPr>
              <a:defRPr sz="1600">
                <a:solidFill>
                  <a:srgbClr val="2A2A2A"/>
                </a:solidFill>
                <a:latin typeface="Times New Roman"/>
              </a:defRPr>
            </a:pPr>
            <a:r>
              <a:t>контент-анализ нормативных актов и открытых цифровых источников;</a:t>
            </a:r>
          </a:p>
          <a:p>
            <a:pPr>
              <a:defRPr sz="1600">
                <a:solidFill>
                  <a:srgbClr val="2A2A2A"/>
                </a:solidFill>
                <a:latin typeface="Times New Roman"/>
              </a:defRPr>
            </a:pPr>
            <a:r>
              <a:t>экспертная оценка зрелости защитных мер и расчёт индекса цифрового доверия.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606060"/>
                </a:solidFill>
                <a:latin typeface="Times New Roman"/>
              </a:rPr>
              <a:t>Информационная база: данные 2024 года, открытые материалы предприятий, обзоры ФинЦЕРТ Банка России, ВНИИ МВД, СПАРК-Интерфакс и Контур.Фокус.</a:t>
            </a:r>
          </a:p>
        </p:txBody>
      </p:sp>
    </p:spTree>
    <p:extLst>
      <p:ext uri="{BB962C8B-B14F-4D97-AF65-F5344CB8AC3E}">
        <p14:creationId xmlns="" xmlns:p14="http://schemas.microsoft.com/office/powerpoint/2010/main" val="301201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  <a:latin typeface="Times New Roman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3F7E"/>
                </a:solidFill>
                <a:latin typeface="Times New Roman"/>
              </a:rPr>
              <a:t>Модельная группа предприятий ЮЗАО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8368"/>
            <a:ext cx="10058400" cy="27432"/>
          </a:xfrm>
          <a:prstGeom prst="rect">
            <a:avLst/>
          </a:prstGeom>
          <a:solidFill>
            <a:srgbClr val="173F7E"/>
          </a:solidFill>
          <a:ln>
            <a:solidFill>
              <a:srgbClr val="173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960120"/>
          <a:ext cx="10789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  <a:gridCol w="1798320"/>
                <a:gridCol w="1798320"/>
                <a:gridCol w="17983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A2A2A"/>
                          </a:solidFill>
                          <a:latin typeface="Times New Roman"/>
                        </a:rPr>
                        <a:t>Показатель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A2A2A"/>
                          </a:solidFill>
                          <a:latin typeface="Times New Roman"/>
                        </a:rPr>
                        <a:t>П-1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A2A2A"/>
                          </a:solidFill>
                          <a:latin typeface="Times New Roman"/>
                        </a:rPr>
                        <a:t>П-2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A2A2A"/>
                          </a:solidFill>
                          <a:latin typeface="Times New Roman"/>
                        </a:rPr>
                        <a:t>П-3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A2A2A"/>
                          </a:solidFill>
                          <a:latin typeface="Times New Roman"/>
                        </a:rPr>
                        <a:t>П-4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A2A2A"/>
                          </a:solidFill>
                          <a:latin typeface="Times New Roman"/>
                        </a:rPr>
                        <a:t>П-5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Профиль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Инжиниринг и торговля оборудованием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Частный медцентр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Стройматериалы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Фермерский маркетплейс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Стоматологическая сеть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Персонал, чел.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27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19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34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Выручка 2024, млн руб.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146,4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37,2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284,1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62,8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98,7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Доля онлайн-канала, 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31,5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22,8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18,4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44,7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19,6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Заказы онлайн / мес.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1 240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2 870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1 880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9 350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4 110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Средний чек, руб.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31 600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3 950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12 470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1 750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A2A2A"/>
                          </a:solidFill>
                          <a:latin typeface="Times New Roman"/>
                        </a:rPr>
                        <a:t>5 320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166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73F7E"/>
                </a:solidFill>
                <a:latin typeface="Times New Roman"/>
              </a:rPr>
              <a:t>Вывод: у всех предприятий присутствуют интернет-каналы, но глубина цифровизации и защищённость различаются; П-4 имеет максимальную онлайн-интенсивность.</a:t>
            </a:r>
          </a:p>
        </p:txBody>
      </p:sp>
    </p:spTree>
    <p:extLst>
      <p:ext uri="{BB962C8B-B14F-4D97-AF65-F5344CB8AC3E}">
        <p14:creationId xmlns:p14="http://schemas.microsoft.com/office/powerpoint/2010/main" xmlns="" val="27393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  <a:latin typeface="Times New Roman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3F7E"/>
                </a:solidFill>
                <a:latin typeface="Times New Roman"/>
              </a:rPr>
              <a:t>Анализ цифровой интенсивности и онлайн-каналов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8368"/>
            <a:ext cx="10058400" cy="27432"/>
          </a:xfrm>
          <a:prstGeom prst="rect">
            <a:avLst/>
          </a:prstGeom>
          <a:solidFill>
            <a:srgbClr val="173F7E"/>
          </a:solidFill>
          <a:ln>
            <a:solidFill>
              <a:srgbClr val="173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051560"/>
          <a:ext cx="470916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897880" y="1051560"/>
          <a:ext cx="470916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251960"/>
            <a:ext cx="9966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A2A2A"/>
                </a:solidFill>
                <a:latin typeface="Times New Roman"/>
              </a:defRPr>
            </a:pPr>
            <a:r>
              <a:t>П-4 сочетает максимальную долю онлайн-выручки (44,7 %) и самый высокий Kди (0,367).</a:t>
            </a:r>
          </a:p>
          <a:p>
            <a:pPr>
              <a:defRPr sz="1500">
                <a:solidFill>
                  <a:srgbClr val="2A2A2A"/>
                </a:solidFill>
                <a:latin typeface="Times New Roman"/>
              </a:defRPr>
            </a:pPr>
            <a:r>
              <a:t>П-3 имеет крупную выручку, но низкую цифровую интенсивность (0,057): потенциал роста связан с развитием интернет-каналов.</a:t>
            </a:r>
          </a:p>
          <a:p>
            <a:pPr>
              <a:defRPr sz="1500">
                <a:solidFill>
                  <a:srgbClr val="2A2A2A"/>
                </a:solidFill>
                <a:latin typeface="Times New Roman"/>
              </a:defRPr>
            </a:pPr>
            <a:r>
              <a:t>Для П-2 и П-5 критичны медицинские и персональные данные, поэтому цифровой рост требует усиления регламентов безопасности.</a:t>
            </a:r>
          </a:p>
        </p:txBody>
      </p:sp>
    </p:spTree>
    <p:extLst>
      <p:ext uri="{BB962C8B-B14F-4D97-AF65-F5344CB8AC3E}">
        <p14:creationId xmlns="" xmlns:p14="http://schemas.microsoft.com/office/powerpoint/2010/main" val="30156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  <a:latin typeface="Times New Roman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3F7E"/>
                </a:solidFill>
                <a:latin typeface="Times New Roman"/>
              </a:rPr>
              <a:t>Уровень защищённости интернет-каналов и индекс цифрового доверия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8368"/>
            <a:ext cx="10058400" cy="27432"/>
          </a:xfrm>
          <a:prstGeom prst="rect">
            <a:avLst/>
          </a:prstGeom>
          <a:solidFill>
            <a:srgbClr val="173F7E"/>
          </a:solidFill>
          <a:ln>
            <a:solidFill>
              <a:srgbClr val="173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960120"/>
          <a:ext cx="101498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460"/>
                <a:gridCol w="2537460"/>
                <a:gridCol w="2537460"/>
                <a:gridCol w="2537460"/>
              </a:tblGrid>
              <a:tr h="4038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Предприятие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Средний уровень мер защиты, %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ИЦД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Интерпретация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П-1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78,6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0,71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достаточный уровень, нужен блок обучения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П-2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42,9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0,43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зона риска: антифрод и проверка контрагентов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П-3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71,4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0,64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средне-высокий уровень, требуется системность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П-4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85,7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0,86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лучший результат группы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П-5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50,0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0,50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пороговый уровень защищённости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3657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73F7E"/>
                </a:solidFill>
                <a:latin typeface="Times New Roman"/>
              </a:rPr>
              <a:t>Ключевые дефициты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9509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A2A2A"/>
                </a:solidFill>
                <a:latin typeface="Times New Roman"/>
              </a:defRPr>
            </a:pPr>
            <a:r>
              <a:t>слабое обучение персонала кибергигиене;</a:t>
            </a:r>
          </a:p>
          <a:p>
            <a:pPr>
              <a:defRPr sz="1600">
                <a:solidFill>
                  <a:srgbClr val="2A2A2A"/>
                </a:solidFill>
                <a:latin typeface="Times New Roman"/>
              </a:defRPr>
            </a:pPr>
            <a:r>
              <a:t>неравномерное внедрение антифрод-модулей;</a:t>
            </a:r>
          </a:p>
          <a:p>
            <a:pPr>
              <a:defRPr sz="1600">
                <a:solidFill>
                  <a:srgbClr val="2A2A2A"/>
                </a:solidFill>
                <a:latin typeface="Times New Roman"/>
              </a:defRPr>
            </a:pPr>
            <a:r>
              <a:t>неполная проверка контрагентов через СПАРК / Контур.Фокус;</a:t>
            </a:r>
          </a:p>
          <a:p>
            <a:pPr>
              <a:defRPr sz="1600">
                <a:solidFill>
                  <a:srgbClr val="2A2A2A"/>
                </a:solidFill>
                <a:latin typeface="Times New Roman"/>
              </a:defRPr>
            </a:pPr>
            <a:r>
              <a:t>различия в зрелости регламентов по персональным данным.</a:t>
            </a:r>
          </a:p>
        </p:txBody>
      </p:sp>
    </p:spTree>
    <p:extLst>
      <p:ext uri="{BB962C8B-B14F-4D97-AF65-F5344CB8AC3E}">
        <p14:creationId xmlns="" xmlns:p14="http://schemas.microsoft.com/office/powerpoint/2010/main" val="113001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  <a:latin typeface="Times New Roman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3F7E"/>
                </a:solidFill>
                <a:latin typeface="Times New Roman"/>
              </a:rPr>
              <a:t>SWOT-обобщение применения интернет-технологий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8368"/>
            <a:ext cx="10058400" cy="27432"/>
          </a:xfrm>
          <a:prstGeom prst="rect">
            <a:avLst/>
          </a:prstGeom>
          <a:solidFill>
            <a:srgbClr val="173F7E"/>
          </a:solidFill>
          <a:ln>
            <a:solidFill>
              <a:srgbClr val="173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05840"/>
          <a:ext cx="996696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4983480"/>
              </a:tblGrid>
              <a:tr h="76581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2A2A"/>
                          </a:solidFill>
                          <a:latin typeface="Times New Roman"/>
                        </a:rPr>
                        <a:t>S — сильные стороны</a:t>
                      </a:r>
                    </a:p>
                  </a:txBody>
                  <a:tcPr marL="36576" marR="36576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A2A2A"/>
                          </a:solidFill>
                          <a:latin typeface="Times New Roman"/>
                        </a:rPr>
                        <a:t>W — слабые стороны</a:t>
                      </a:r>
                    </a:p>
                  </a:txBody>
                  <a:tcPr marL="36576" marR="36576" marT="18288" marB="18288">
                    <a:solidFill>
                      <a:srgbClr val="E2EFDA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A2A2A"/>
                          </a:solidFill>
                          <a:latin typeface="Times New Roman"/>
                        </a:rPr>
                        <a:t>рост доступности рынков, СБП и эквайринг, маркетплейсы, онлайн-заказы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A2A2A"/>
                          </a:solidFill>
                          <a:latin typeface="Times New Roman"/>
                        </a:rPr>
                        <a:t>разрыв в цифровой зрелости, слабая кибергигиена, недостаточный антифрод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A2A2A"/>
                          </a:solidFill>
                          <a:latin typeface="Times New Roman"/>
                        </a:rPr>
                        <a:t>O — возможности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A2A2A"/>
                          </a:solidFill>
                          <a:latin typeface="Times New Roman"/>
                        </a:rPr>
                        <a:t>T — угрозы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A2A2A"/>
                          </a:solidFill>
                          <a:latin typeface="Times New Roman"/>
                        </a:rPr>
                        <a:t>цифровой мониторинг, межведомственный обмен, профилактика, ИИ-аналитика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A2A2A"/>
                          </a:solidFill>
                          <a:latin typeface="Times New Roman"/>
                        </a:rPr>
                        <a:t>фишинг, фрод, утечки ПДн, сомнительные контрагенты, репутационные потери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434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73F7E"/>
                </a:solidFill>
                <a:latin typeface="Times New Roman"/>
              </a:rPr>
              <a:t>Вывод по главе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2A2A2A"/>
                </a:solidFill>
                <a:latin typeface="Times New Roman"/>
              </a:rPr>
              <a:t>Интернет-технологии повышают коммерческую эффективность, но без профилактики и аналитической поддержки ОЭБиПК создают дополнительный контур экономических рисков.</a:t>
            </a:r>
          </a:p>
        </p:txBody>
      </p:sp>
    </p:spTree>
    <p:extLst>
      <p:ext uri="{BB962C8B-B14F-4D97-AF65-F5344CB8AC3E}">
        <p14:creationId xmlns="" xmlns:p14="http://schemas.microsoft.com/office/powerpoint/2010/main" val="1133664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  <a:latin typeface="Times New Roman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3F7E"/>
                </a:solidFill>
                <a:latin typeface="Times New Roman"/>
              </a:rPr>
              <a:t>Предлагаемый комплекс мероприятий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8368"/>
            <a:ext cx="10058400" cy="27432"/>
          </a:xfrm>
          <a:prstGeom prst="rect">
            <a:avLst/>
          </a:prstGeom>
          <a:solidFill>
            <a:srgbClr val="173F7E"/>
          </a:solidFill>
          <a:ln>
            <a:solidFill>
              <a:srgbClr val="173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9144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Звено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Мероприятия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Ожидаемый эффект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Профилактика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семинары для предпринимателей; курс «Кибергигиена для МСП»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снижение числа инцидентов до их наступления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Аналитика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обезличенные обзоры типовых схем; карты мероприятий для П-1–П-5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обновление внутренних регламентов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Цифровой мониторинг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система пяти индикаторов раннего реагирования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раннее выявление подозрительных операций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Межведомственный обмен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рабочая группа бизнес — ЭБиПК — ФНС — Банк России; ГосТех; отраслевые ассоциации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целостная картина рисков и ускорение проверок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5720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A2A2A"/>
                </a:solidFill>
                <a:latin typeface="Times New Roman"/>
              </a:defRPr>
            </a:pPr>
            <a:r>
              <a:t>Меры адресованы одновременно коммерческой эффективности и экономической безопасности.</a:t>
            </a:r>
          </a:p>
          <a:p>
            <a:pPr>
              <a:defRPr sz="1600">
                <a:solidFill>
                  <a:srgbClr val="2A2A2A"/>
                </a:solidFill>
                <a:latin typeface="Times New Roman"/>
              </a:defRPr>
            </a:pPr>
            <a:r>
              <a:t>Программа не заменяет работу предприятий, а создаёт для них профилактическую и аналитическую инфраструктуру.</a:t>
            </a:r>
          </a:p>
        </p:txBody>
      </p:sp>
    </p:spTree>
    <p:extLst>
      <p:ext uri="{BB962C8B-B14F-4D97-AF65-F5344CB8AC3E}">
        <p14:creationId xmlns="" xmlns:p14="http://schemas.microsoft.com/office/powerpoint/2010/main" val="14218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  <a:latin typeface="Times New Roman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73F7E"/>
                </a:solidFill>
                <a:latin typeface="Times New Roman"/>
              </a:rPr>
              <a:t>Экономическая эффективность предложений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58368"/>
            <a:ext cx="10058400" cy="27432"/>
          </a:xfrm>
          <a:prstGeom prst="rect">
            <a:avLst/>
          </a:prstGeom>
          <a:solidFill>
            <a:srgbClr val="173F7E"/>
          </a:solidFill>
          <a:ln>
            <a:solidFill>
              <a:srgbClr val="173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96012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Показатель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2024 факт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2026 прогноз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Изменение</a:t>
                      </a:r>
                    </a:p>
                  </a:txBody>
                  <a:tcPr marL="36576" marR="36576" marT="18288" marB="18288">
                    <a:solidFill>
                      <a:srgbClr val="DDEB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Онлайн-выручка, среднее по группе, млн руб.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48,3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63,7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+31,9 %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Доля онлайн в обороте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27,4 %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39,8 %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+12,4 п.п.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Потери от фрода и фишинга, млн руб./год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1,42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0,28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−80,3 %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Время выявления подозрительной операции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36 ч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4 ч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−32 ч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Чистая прибыль, млн руб./год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4,7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8,9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+89,4 %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60120" y="3886200"/>
          <a:ext cx="59436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Сценарий</a:t>
                      </a:r>
                    </a:p>
                  </a:txBody>
                  <a:tcPr marL="36576" marR="36576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ΔП, тыс. руб.</a:t>
                      </a:r>
                    </a:p>
                  </a:txBody>
                  <a:tcPr marL="36576" marR="36576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ΔЗ, тыс. руб.</a:t>
                      </a:r>
                    </a:p>
                  </a:txBody>
                  <a:tcPr marL="36576" marR="36576" marT="18288" marB="18288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A2A2A"/>
                          </a:solidFill>
                          <a:latin typeface="Times New Roman"/>
                        </a:rPr>
                        <a:t>KEO</a:t>
                      </a:r>
                    </a:p>
                  </a:txBody>
                  <a:tcPr marL="36576" marR="36576" marT="18288" marB="18288">
                    <a:solidFill>
                      <a:srgbClr val="FCE4D6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Пессимистический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1 800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500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2,6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Базовый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4 200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400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9,5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Оптимистический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6 800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350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A2A2A"/>
                          </a:solidFill>
                          <a:latin typeface="Times New Roman"/>
                        </a:rPr>
                        <a:t>18,4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60920" y="40690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73F7E"/>
                </a:solidFill>
                <a:latin typeface="Times New Roman"/>
              </a:rPr>
              <a:t>Формула: KEO = (ΔП − ΔЗ) / ΔЗ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645152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A2A2A"/>
                </a:solidFill>
                <a:latin typeface="Times New Roman"/>
              </a:rPr>
              <a:t>Базовый сценарий показывает, что каждый рубль дополнительных затрат даёт 9,5 руб. экономической отдачи.</a:t>
            </a:r>
          </a:p>
        </p:txBody>
      </p:sp>
    </p:spTree>
    <p:extLst>
      <p:ext uri="{BB962C8B-B14F-4D97-AF65-F5344CB8AC3E}">
        <p14:creationId xmlns="" xmlns:p14="http://schemas.microsoft.com/office/powerpoint/2010/main" val="1881948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06060"/>
                </a:solidFill>
                <a:latin typeface="Times New Roman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50876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73F7E"/>
                </a:solidFill>
                <a:latin typeface="Times New Roman"/>
              </a:rP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0"/>
            <a:ext cx="9235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2A2A2A"/>
                </a:solidFill>
                <a:latin typeface="Times New Roman"/>
              </a:rPr>
              <a:t>Цель работы достигнута: разработан комплекс мер, который объединяет профилактику, аналитику, цифровой мониторинг и межведомственный обмен.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749039"/>
            <a:ext cx="9235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2A2A2A"/>
                </a:solidFill>
                <a:latin typeface="Times New Roman"/>
              </a:rPr>
              <a:t>Рекомендации могут быть использованы ОЭБиПК УВД по ЮЗАО и коммерческими предприятиями округа для повышения эффективности и экономической безопасности интернет-каналов.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892040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548235"/>
                </a:solidFill>
                <a:latin typeface="Times New Roman"/>
              </a:rPr>
              <a:t>Готов ответить на вопросы</a:t>
            </a:r>
          </a:p>
        </p:txBody>
      </p:sp>
    </p:spTree>
    <p:extLst>
      <p:ext uri="{BB962C8B-B14F-4D97-AF65-F5344CB8AC3E}">
        <p14:creationId xmlns="" xmlns:p14="http://schemas.microsoft.com/office/powerpoint/2010/main" val="2767889231"/>
      </p:ext>
    </p:extLst>
  </p:cSld>
  <p:clrMapOvr>
    <a:masterClrMapping/>
  </p:clrMapOvr>
</p:sld>
</file>

<file path=ppt/theme/theme1.xml><?xml version="1.0" encoding="utf-8"?>
<a:theme xmlns:a="http://schemas.openxmlformats.org/drawingml/2006/main" name="mfua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fua">
      <a:majorFont>
        <a:latin typeface="Franklin Gothic Medium Cond"/>
        <a:ea typeface=""/>
        <a:cs typeface=""/>
      </a:majorFont>
      <a:minorFont>
        <a:latin typeface="Franklin Gothic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2168</TotalTime>
  <Words>119</Words>
  <Application>Microsoft Office PowerPoint</Application>
  <PresentationFormat>Экран (4:3)</PresentationFormat>
  <Paragraphs>40</Paragraphs>
  <Slides>10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mfua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Mihaiylova.Y</dc:creator>
  <cp:lastModifiedBy>Windows User</cp:lastModifiedBy>
  <cp:revision>121</cp:revision>
  <dcterms:created xsi:type="dcterms:W3CDTF">2014-06-06T11:46:34Z</dcterms:created>
  <dcterms:modified xsi:type="dcterms:W3CDTF">2024-06-12T22:12:31Z</dcterms:modified>
</cp:coreProperties>
</file>